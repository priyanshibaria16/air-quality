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0.5 minutes.</a:t>
            </a:r>
          </a:p>
          <a:p/>
          <a:p>
            <a:r>
              <a:t>Greet the panel, name the project and say what you will show: a nine notebook mining pipeline, the processed datasets, and the Power BI design built on them. Do not read the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0.8 minutes.</a:t>
            </a:r>
          </a:p>
          <a:p/>
          <a:p>
            <a:r>
              <a:t>Frame the project as a journey: data -&gt; knowledge -&gt; mining -&gt; BI -&gt; insight. Emphasise the derived-column point early because it drives the leakage story in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0.8 minutes.</a:t>
            </a:r>
          </a:p>
          <a:p/>
          <a:p>
            <a:r>
              <a:t>Read the italic statement in one breath, then list the five concrete gaps. Do not add claims the brief did not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0.7 minutes.</a:t>
            </a:r>
          </a:p>
          <a:p/>
          <a:p>
            <a:r>
              <a:t>Say that the questions were kept fixed and the analysis was written to answer them, not the other way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This is the honest slide. State the row/column counts from memory-free facts, then state the integrity finding plainly - the panel will ask about it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0.7 minutes.</a:t>
            </a:r>
          </a:p>
          <a:p/>
          <a:p>
            <a:r>
              <a:t>Walk the four phases in the diagram: preparation, description, mining, delivery. Mention that each stage names the file that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0.8 minutes.</a:t>
            </a:r>
          </a:p>
          <a:p/>
          <a:p>
            <a:r>
              <a:t>Point at the 'Values affected' column: the log is auditable, so a reviewer can re-check each step in notebook 02. The 43 individual log entries are collapsed into these groups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Two messages: what the descriptive statistics show, and why the significance tests stop you turning them into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0.9 minutes.</a:t>
            </a:r>
          </a:p>
          <a:p/>
          <a:p>
            <a:r>
              <a:t>The contrast between linear and tree R-squared is the analytical highlight of this slide; say why both were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Expect to be asked why you did not just take the elbow. Answer: the two criteria disagreed and the silhouette is weak, so the conservative k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0.9 minutes.</a:t>
            </a:r>
          </a:p>
          <a:p/>
          <a:p>
            <a:r>
              <a:t>Say out loud that 5% is configured. If a marker asks 'how do you know there are 914 real anomalies?', the answer is that you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This is the most likely question: 'why not report 99.96%?'. Answer: because that model saw AQI, and AQI determines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If the .pbix is available, switch to it here for two minutes: filter a city, watch the KPIs and titles recompute, then a cross-filter on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1.0 minutes.</a:t>
            </a:r>
          </a:p>
          <a:p/>
          <a:p>
            <a:r>
              <a:t>Read out two or three insights and name the file behind each. Do not present a weak-evidence insight as a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0.8 minutes.</a:t>
            </a:r>
          </a:p>
          <a:p/>
          <a:p>
            <a:r>
              <a:t>Owning limitations is what earns marks in a viva. Say which limitation changed the design: the derived target forced AQI out of the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0.7 minutes.</a:t>
            </a:r>
          </a:p>
          <a:p/>
          <a:p>
            <a:r>
              <a:t>Keep this to 40 seconds - the value is in the tiering, not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0.8 minutes.</a:t>
            </a:r>
          </a:p>
          <a:p/>
          <a:p>
            <a:r>
              <a:t>Close on the reproducibility line: the same nine notebooks run against a real dataset unchanged.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3000">
                <a:solidFill>
                  <a:srgbClr val="FFFFFF"/>
                </a:solidFill>
                <a:latin typeface="Calibri"/>
              </a:defRPr>
            </a:pPr>
            <a:r>
              <a:t>Air Quality &amp; Pollution Intelligence: An Integrated Data Mining and Business Intelligence Dashboard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800">
                <a:solidFill>
                  <a:srgbClr val="1B7F79"/>
                </a:solidFill>
                <a:latin typeface="Calibri"/>
              </a:defRPr>
            </a:pPr>
            <a:r>
              <a:t>Data Mining and Business Intelligence - project viva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&lt;STUDENT NAME&gt;   |   &lt;ENROLMENT / ROLL NUMBER&gt;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&lt;INSTITUTION NAME&gt;   |   &lt;YYYY-YYYY&gt;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17 slides - about 13 minutes - notebooks, code, dataset and dashboard all available for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What the data is, and why the analysis is not obvious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An AQI table mixes three kinds of object</a:t>
            </a:r>
          </a:p>
          <a:p>
            <a:pPr>
              <a:spcAft>
                <a:spcPts val="700"/>
              </a:spcAft>
              <a:defRPr sz="1200">
                <a:solidFill>
                  <a:srgbClr val="555F6B"/>
                </a:solidFill>
                <a:latin typeface="Calibri"/>
              </a:defRPr>
            </a:pPr>
            <a:r>
              <a:t>   measured pollutant concentrations, one derived index (AQI), and one label derived from that index (AQI_Bucket)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Answering ten practical questions needs an ordered pipeline</a:t>
            </a:r>
          </a:p>
          <a:p>
            <a:pPr>
              <a:spcAft>
                <a:spcPts val="700"/>
              </a:spcAft>
              <a:defRPr sz="1200">
                <a:solidFill>
                  <a:srgbClr val="555F6B"/>
                </a:solidFill>
                <a:latin typeface="Calibri"/>
              </a:defRPr>
            </a:pPr>
            <a:r>
              <a:t>   cities over time, pollutant-AQI association, natural groups, unusual days, predictable categories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Data mining answers the questions once</a:t>
            </a:r>
          </a:p>
          <a:p>
            <a:pPr>
              <a:spcAft>
                <a:spcPts val="700"/>
              </a:spcAft>
              <a:defRPr sz="1200">
                <a:solidFill>
                  <a:srgbClr val="555F6B"/>
                </a:solidFill>
                <a:latin typeface="Calibri"/>
              </a:defRPr>
            </a:pPr>
            <a:r>
              <a:t>   clustering, outlier detection, classification, significance testing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Business intelligence answers them for the next asker</a:t>
            </a:r>
          </a:p>
          <a:p>
            <a:pPr>
              <a:spcAft>
                <a:spcPts val="700"/>
              </a:spcAft>
              <a:defRPr sz="1200">
                <a:solidFill>
                  <a:srgbClr val="555F6B"/>
                </a:solidFill>
                <a:latin typeface="Calibri"/>
              </a:defRPr>
            </a:pPr>
            <a:r>
              <a:t>   star schema + DAX measures + a five-page Power BI dashboard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The commitment behind every slide</a:t>
            </a:r>
          </a:p>
          <a:p>
            <a:pPr>
              <a:spcAft>
                <a:spcPts val="700"/>
              </a:spcAft>
              <a:defRPr sz="1200">
                <a:solidFill>
                  <a:srgbClr val="555F6B"/>
                </a:solidFill>
                <a:latin typeface="Calibri"/>
              </a:defRPr>
            </a:pPr>
            <a:r>
              <a:t>   numbers come from the artefacts; where evidence is weak, the deck says 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As set in the project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700" i="1">
                <a:solidFill>
                  <a:srgbClr val="0F2A44"/>
                </a:solidFill>
                <a:latin typeface="Calibri"/>
              </a:defRPr>
            </a:pPr>
            <a:r>
              <a:t>Air-quality datasets contain multiple pollutants, locations, and time-based observations, making it difficult to identify pollution patterns, relationships, unusual observations, and city-level differences through raw data alone. This project aims to apply data-mining techniques and business-intelligence visualization to transform air-quality observations into structured analytical insights.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Summarise five cities, ten years and nine pollutants without distorting them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Measure pollutant-to-AQI association, with significance attached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Define 'unusual' formally, without smuggling in the answer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Quantify the leakage from the derived AQI column before trusting accuracy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Publish the result as an interactive dashboard with documented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The ten questions the project must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1. Which cities have higher average AQI?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2. How does AQI change over time?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3. Which pollutants are most strongly associated with AQI?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4. How do pollutants correlate with each other?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5. Are cities and observations naturally grouped into pollution profiles?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6. Which observations represent unusual pollution patterns?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7. Can AQI categories be predicted using pollutant measurements?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8. Which months or seasons have higher pollution levels?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9. How do pollution profiles differ between cities?</a:t>
            </a:r>
          </a:p>
          <a:p>
            <a:pPr>
              <a:spcAft>
                <a:spcPts val="500"/>
              </a:spcAft>
              <a:defRPr sz="1500">
                <a:solidFill>
                  <a:srgbClr val="0F2A44"/>
                </a:solidFill>
                <a:latin typeface="Calibri"/>
              </a:defRPr>
            </a:pPr>
            <a:r>
              <a:t>• 10. What insights can be communicated through a BI dashboard?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555F6B"/>
                </a:solidFill>
                <a:latin typeface="Calibri"/>
              </a:defRPr>
            </a:pPr>
            <a:r>
              <a:t>Delivered through: cleaning and feature engineering, EDA, correlation, K-Means, Isolation Forest, four classifiers, and a Power BI design.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400">
                <a:solidFill>
                  <a:srgbClr val="555F6B"/>
                </a:solidFill>
                <a:latin typeface="Calibri"/>
              </a:defRPr>
            </a:pPr>
            <a:r>
              <a:t>Each question is answered with a figure in the report (section 24) and on slides 8 to 14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data/raw/Air_quality_data.csv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108606" cy="1143000"/>
          </a:xfrm>
          <a:prstGeom prst="roundRect">
            <a:avLst/>
          </a:prstGeom>
          <a:solidFill>
            <a:srgbClr val="F3F5F7"/>
          </a:solidFill>
          <a:ln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0F2A44"/>
                </a:solidFill>
                <a:latin typeface="Calibri"/>
              </a:defRPr>
            </a:pPr>
            <a:r>
              <a:t>18,265</a:t>
            </a:r>
          </a:p>
          <a:p>
            <a:pPr algn="ctr">
              <a:defRPr sz="1100" b="0">
                <a:solidFill>
                  <a:srgbClr val="555F6B"/>
                </a:solidFill>
                <a:latin typeface="Calibri"/>
              </a:defRPr>
            </a:pPr>
            <a:r>
              <a:t>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6118" y="1554480"/>
            <a:ext cx="2108606" cy="1143000"/>
          </a:xfrm>
          <a:prstGeom prst="roundRect">
            <a:avLst/>
          </a:prstGeom>
          <a:solidFill>
            <a:srgbClr val="F3F5F7"/>
          </a:solidFill>
          <a:ln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0F2A44"/>
                </a:solidFill>
                <a:latin typeface="Calibri"/>
              </a:defRPr>
            </a:pPr>
            <a:r>
              <a:t>13</a:t>
            </a:r>
          </a:p>
          <a:p>
            <a:pPr algn="ctr">
              <a:defRPr sz="1100" b="0">
                <a:solidFill>
                  <a:srgbClr val="555F6B"/>
                </a:solidFill>
                <a:latin typeface="Calibri"/>
              </a:defRPr>
            </a:pPr>
            <a:r>
              <a:t>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9316" y="1554480"/>
            <a:ext cx="2108606" cy="1143000"/>
          </a:xfrm>
          <a:prstGeom prst="roundRect">
            <a:avLst/>
          </a:prstGeom>
          <a:solidFill>
            <a:srgbClr val="F3F5F7"/>
          </a:solidFill>
          <a:ln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0F2A44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1100" b="0">
                <a:solidFill>
                  <a:srgbClr val="555F6B"/>
                </a:solidFill>
                <a:latin typeface="Calibri"/>
              </a:defRPr>
            </a:pPr>
            <a:r>
              <a:t>cities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2515" y="1554480"/>
            <a:ext cx="2108606" cy="1143000"/>
          </a:xfrm>
          <a:prstGeom prst="roundRect">
            <a:avLst/>
          </a:prstGeom>
          <a:solidFill>
            <a:srgbClr val="F3F5F7"/>
          </a:solidFill>
          <a:ln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0F2A44"/>
                </a:solidFill>
                <a:latin typeface="Calibri"/>
              </a:defRPr>
            </a:pPr>
            <a:r>
              <a:t>2015-01 to 2024-12</a:t>
            </a:r>
          </a:p>
          <a:p>
            <a:pPr algn="ctr">
              <a:defRPr sz="1100" b="0">
                <a:solidFill>
                  <a:srgbClr val="555F6B"/>
                </a:solidFill>
                <a:latin typeface="Calibri"/>
              </a:defRPr>
            </a:pPr>
            <a:r>
              <a:t>date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95713" y="1554480"/>
            <a:ext cx="2108606" cy="1143000"/>
          </a:xfrm>
          <a:prstGeom prst="roundRect">
            <a:avLst/>
          </a:prstGeom>
          <a:solidFill>
            <a:srgbClr val="F3F5F7"/>
          </a:solidFill>
          <a:ln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defRPr sz="2200" b="1">
                <a:solidFill>
                  <a:srgbClr val="0F2A44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100" b="0">
                <a:solidFill>
                  <a:srgbClr val="555F6B"/>
                </a:solidFill>
                <a:latin typeface="Calibri"/>
              </a:defRPr>
            </a:pPr>
            <a:r>
              <a:t>missing cells on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1155680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Pollutants present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PM2.5, PM10, NO, NO2, NOx, NH3, CO, SO2, O3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Expected but absent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Benzene, Toluene, Xylene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Derived columns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AQI (index) and AQI_Bucket (label from AQI)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Exact duplicate rows on load: 0; rows after cleaning: 18,265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Provenance not documented with the file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publisher, download date and collection method are unknown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08960"/>
            <a:ext cx="5120640" cy="1371600"/>
          </a:xfrm>
          <a:prstGeom prst="roundRect">
            <a:avLst/>
          </a:prstGeom>
          <a:solidFill>
            <a:srgbClr val="F3F5F7"/>
          </a:solidFill>
          <a:ln>
            <a:solidFill>
              <a:srgbClr val="B56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250">
                <a:solidFill>
                  <a:srgbClr val="B56A11"/>
                </a:solidFill>
                <a:latin typeface="Calibri"/>
              </a:defRPr>
            </a:pPr>
            <a:r>
              <a:t>Integrity finding: the measurement columns behave like uniform draws (independent of each other and of AQI, no city/month/year effect). Treat the results as properties of this file, not as findings about Indian 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Thirteen stages, each evidenced by an artefact</a:t>
            </a:r>
          </a:p>
        </p:txBody>
      </p:sp>
      <p:pic>
        <p:nvPicPr>
          <p:cNvPr id="6" name="Picture 5" descr="01_methodolo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680960" cy="12376082"/>
          </a:xfrm>
          <a:prstGeom prst="rect">
            <a:avLst/>
          </a:prstGeom>
          <a:ln>
            <a:solidFill>
              <a:srgbClr val="F3F5F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Everything runs from reusable modules in src/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Nine notebooks execute the same code end to end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Notebook 09 re-runs the pipeline once and exports every artefact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results.json is the single source of numbers for report and slides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random_state = 42 everywhere; versions recorded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Every decision logged with the values it touched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73152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Cleaning action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Steps logged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Values affected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Categorical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Duplicate removal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Extreme values (flagged, kept)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Impossible values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Missing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Numeric coercion check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Ordinal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Uniqueness check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A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Raw file opened read-only; never overwritten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Exact duplicate rows found on load: 0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Date parsed to datetime; city names normalised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Negative / impossible values checked per pollutant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Extreme values flagged, not deleted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No imputation was needed - nothing was silently filled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Distribution, trend, city and calendar profiles</a:t>
            </a:r>
          </a:p>
        </p:txBody>
      </p:sp>
      <p:pic>
        <p:nvPicPr>
          <p:cNvPr id="6" name="Picture 5" descr="03_city_avg_median_aq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760720" cy="3513752"/>
          </a:xfrm>
          <a:prstGeom prst="rect">
            <a:avLst/>
          </a:prstGeom>
          <a:ln>
            <a:solidFill>
              <a:srgbClr val="F3F5F7"/>
            </a:solidFill>
          </a:ln>
        </p:spPr>
      </p:pic>
      <p:pic>
        <p:nvPicPr>
          <p:cNvPr id="7" name="Picture 6" descr="07_monthly_aq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5760720" cy="3513752"/>
          </a:xfrm>
          <a:prstGeom prst="rect">
            <a:avLst/>
          </a:prstGeom>
          <a:ln>
            <a:solidFill>
              <a:srgbClr val="F3F5F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0" y="1508760"/>
            <a:ext cx="530352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Average AQI by city ranges 316.62 (Chennai) to 318.19 (Mumbai)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a spread of 1.57 points on an index that runs to 500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City effect is not statistically detectable (ANOVA p = 0.9830)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ranking is descriptive only; it must not be quoted as 'X city is more polluted'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Category shares follow the band widths, not the air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Very Poor and Severe together hold 58.91% of records; the rarest category, Good, holds 0.03%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Distributions are flat, not environmental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Kolmogorov-Smirnov and skew/kurtosis tests reject the usual right-skewed pollutant shape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No trend over ten years (slope 0.0366 AQI/year, p = 0.9001)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reported as 'no statistically detectable trend'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Linear r, rank r, and a non-linear check</a:t>
            </a:r>
          </a:p>
        </p:txBody>
      </p:sp>
      <p:pic>
        <p:nvPicPr>
          <p:cNvPr id="6" name="Picture 5" descr="01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852160" cy="5004606"/>
          </a:xfrm>
          <a:prstGeom prst="rect">
            <a:avLst/>
          </a:prstGeom>
          <a:ln>
            <a:solidFill>
              <a:srgbClr val="F3F5F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3796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Pollutant-pollutant correlation is near zero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largest absolute Pearson r in the matrix is trivial; the columns behave independently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Linear regression on AQI: R2 = 0.0579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Pearson r alone would say AQI is unexplained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Tree ensemble on AQI: CV R2 = 0.9969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relationship is non-linear, so a heat map understates it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Forward selection: PM2.5 + PM10 reach CV R2 = 0.9588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AQI is rebuilt almost exactly from a pair of input columns - it is derived, not measured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K-Means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k chosen from evidence, disagreement reported</a:t>
            </a:r>
          </a:p>
        </p:txBody>
      </p:sp>
      <p:pic>
        <p:nvPicPr>
          <p:cNvPr id="6" name="Picture 5" descr="01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760720" cy="2181751"/>
          </a:xfrm>
          <a:prstGeom prst="rect">
            <a:avLst/>
          </a:prstGeom>
          <a:ln>
            <a:solidFill>
              <a:srgbClr val="F3F5F7"/>
            </a:solidFill>
          </a:ln>
        </p:spPr>
      </p:pic>
      <p:pic>
        <p:nvPicPr>
          <p:cNvPr id="7" name="Picture 6" descr="02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5760720" cy="4115625"/>
          </a:xfrm>
          <a:prstGeom prst="rect">
            <a:avLst/>
          </a:prstGeom>
          <a:ln>
            <a:solidFill>
              <a:srgbClr val="F3F5F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0" y="15544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Features: nine pollutant concentrations, StandardScaler applied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scaling is mandatory - CO is of order 5 and PM10 of order 300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Chosen k = 2 by silhouette (0.0838); the elbow rule suggested k = 4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disagreement is reported, not hidden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Silhouette near 0.08 means weak separation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groups are a description of this file, not pollution 'regimes'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PCA is used for the picture only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clustering runs on all nine scaled columns; the two plotted components carry just 22.9% of the variance, so the scatter is 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Isolation Forest on nine pollutants</a:t>
            </a:r>
          </a:p>
        </p:txBody>
      </p:sp>
      <p:pic>
        <p:nvPicPr>
          <p:cNvPr id="6" name="Picture 5" descr="02_anomaly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760720" cy="3592392"/>
          </a:xfrm>
          <a:prstGeom prst="rect">
            <a:avLst/>
          </a:prstGeom>
          <a:ln>
            <a:solidFill>
              <a:srgbClr val="F3F5F7"/>
            </a:solidFill>
          </a:ln>
        </p:spPr>
      </p:pic>
      <p:pic>
        <p:nvPicPr>
          <p:cNvPr id="7" name="Picture 6" descr="04_anomal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77639"/>
            <a:ext cx="5760720" cy="3508020"/>
          </a:xfrm>
          <a:prstGeom prst="rect">
            <a:avLst/>
          </a:prstGeom>
          <a:ln>
            <a:solidFill>
              <a:srgbClr val="F3F5F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46520" y="15544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914 of 18,265 observations flagged (5.00%)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300 trees, random_state 42, contamination = 0.05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The rate is an assumption, not a discovery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contamination fixes the share before the model sees the data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Anomalous days are jointly unusual, not simply high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largest pollutant shift between normal and flagged rows is a few percent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Spread evenly over cities and years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consistent with the uniform-distribution finding in slide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Predicting the AQI category from pollutants only</a:t>
            </a:r>
          </a:p>
        </p:txBody>
      </p:sp>
      <p:pic>
        <p:nvPicPr>
          <p:cNvPr id="6" name="Picture 5" descr="0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852160" cy="3460500"/>
          </a:xfrm>
          <a:prstGeom prst="rect">
            <a:avLst/>
          </a:prstGeom>
          <a:ln>
            <a:solidFill>
              <a:srgbClr val="F3F5F7"/>
            </a:solidFill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600200"/>
          <a:ext cx="5212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Accuracy_%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F1_macro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Lift_over_Baseline_pp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99.28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0.7765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69.17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94.94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0.7153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64.83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Hist 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89.69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0.6224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59.58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31.55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0.2491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1.44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Baseline (prior)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30.11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977639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Best model: Random Forest - accuracy 99.28%, macro-F1 0.7765, lift 69.17 pp over the 30.11% prior baseline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stratified 75/25 split, AQI excluded from every feature set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Including AQI inflates accuracy by 0.68 pp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the label is a band of AQI, so using AQI is predicting the target from itself</a:t>
            </a:r>
          </a:p>
          <a:p>
            <a:pPr>
              <a:spcAft>
                <a:spcPts val="500"/>
              </a:spcAft>
              <a:defRPr sz="1200">
                <a:solidFill>
                  <a:srgbClr val="0F2A44"/>
                </a:solidFill>
                <a:latin typeface="Calibri"/>
              </a:defRPr>
            </a:pPr>
            <a:r>
              <a:t>• Rare classes are where accuracy lies</a:t>
            </a:r>
          </a:p>
          <a:p>
            <a:pPr>
              <a:spcAft>
                <a:spcPts val="700"/>
              </a:spcAft>
              <a:defRPr sz="900">
                <a:solidFill>
                  <a:srgbClr val="555F6B"/>
                </a:solidFill>
                <a:latin typeface="Calibri"/>
              </a:defRPr>
            </a:pPr>
            <a:r>
              <a:t>   Good (6 rows) and Satisfactory (113 rows) are why macro-F1 0.7765 sits far below 99.28%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Star schema, documented KPIs, five pages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4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visuals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One-glance status of the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6 KPI cards, AQI by city, trend, category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City Analysis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Compare cities in a filter context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radar/bar comparison, cluster mix, percentile table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Pollutant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Relation between pollutants and AQI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heat map, scatter vs AQI,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Pattern Discovery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Mining results surfaced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cluster profiles, anomaly list, model comparison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Time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yearly/monthly/seasonal trend, YTD, year-over-year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97680"/>
            <a:ext cx="112014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Fact: air_quality_cleaned.csv; dimensions: dim_date, dim_city, dim_bucket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67 DAX measures documented in dashboard/DAX_measures.dax and dashboard/KPI_DEFINITIONS.md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Slicers (city, year, month, season, category) plus a what-if limit parameter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Thresholds cite CPCB bands - verified to reproduce AQI_Bucket on 100% of rows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Results and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Generated from computed artefacts only - never typed 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201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Insight (abridged)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The dataset covers 18,265 daily observations across 5 cities from 2015-01-01 to 2024-12-31.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Cleaning removed no rows: the supplied file contains no duplicate records and no missing values, so the analysis rests entirely on originally recorded...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Mumbai has the highest average AQI (318.185) and Chennai the lowest (316.619), a gap of 1.6 index 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Although city averages differ slightly, the difference between cities is NOT statistically significant (ANOVA F=0.0985, p=0.983), so this dataset does...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PM10 shows the strongest association with AQI (Pearson r=0.2296, weak, p=4.49e-217); 3 of 9 pollutants reach significance at 0.05.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 linearly, PM10 explains only 5.3% of AQI variance, and correlation is not causation: this dataset contains no activity or meteorological data...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A44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94960"/>
            <a:ext cx="11201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555F6B"/>
                </a:solidFill>
                <a:latin typeface="Calibri"/>
              </a:defRPr>
            </a:pPr>
            <a:r>
              <a:t>20 insights are stored in data/processed/insights.csv, each with its quantitative evidence and the file it was derived from. Insights whose evidence is weak are labelled as weak.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What this project cannot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Dataset availability is limited to the recorded cities and time period.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Missing values may affect analysis.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Correlation does not establish causation.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K-Means results depend on feature selection and scaling.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Anomaly detection identifies statistical unusualness rather than environmental causes.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Classification performance depends on data quality and class distribution.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The project does not replace official environmental monitoring or regulatory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37760"/>
            <a:ext cx="11155680" cy="1371600"/>
          </a:xfrm>
          <a:prstGeom prst="roundRect">
            <a:avLst/>
          </a:prstGeom>
          <a:solidFill>
            <a:srgbClr val="F3F5F7"/>
          </a:solidFill>
          <a:ln>
            <a:solidFill>
              <a:srgbClr val="B56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250">
                <a:solidFill>
                  <a:srgbClr val="B56A11"/>
                </a:solidFill>
                <a:latin typeface="Calibri"/>
              </a:defRPr>
            </a:pPr>
            <a:r>
              <a:t>Added by the analysis itself: the supplied file carries no provenance and its columns behave like independent uniform draws, so city, month and year differences are statistically indistinguishable. Findings are therefore descriptions of the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Twelve directions, in three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Real-time air-quality APIs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More cities and stations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Satellite data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Weather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Forecasting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Deep learning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Geospatial analysis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Real-time Power BI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Mobile dashboard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Automated alerts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More advanced anomaly detection</a:t>
            </a:r>
          </a:p>
          <a:p>
            <a:pPr>
              <a:spcAft>
                <a:spcPts val="500"/>
              </a:spcAft>
              <a:defRPr sz="1300">
                <a:solidFill>
                  <a:srgbClr val="0F2A44"/>
                </a:solidFill>
                <a:latin typeface="Calibri"/>
              </a:defRPr>
            </a:pPr>
            <a:r>
              <a:t>• Explainable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11201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555F6B"/>
                </a:solidFill>
                <a:latin typeface="Calibri"/>
              </a:defRPr>
            </a:pPr>
            <a:r>
              <a:t>Data first: real-time APIs, more cities, satellite and weather inputs.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555F6B"/>
                </a:solidFill>
                <a:latin typeface="Calibri"/>
              </a:defRPr>
            </a:pPr>
            <a:r>
              <a:t>Then modelling: forecasting, deep learning, stronger anomaly validation, explainability.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555F6B"/>
                </a:solidFill>
                <a:latin typeface="Calibri"/>
              </a:defRPr>
            </a:pPr>
            <a:r>
              <a:t>Then delivery: live and mobile dashboards, automated public alerts.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46304"/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Air Quality &amp; Pollution Intelligence  |  Data Mining +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000">
                <a:solidFill>
                  <a:srgbClr val="555F6B"/>
                </a:solidFill>
                <a:latin typeface="Calibri"/>
              </a:defRPr>
            </a:pPr>
            <a:r>
              <a:t>17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300">
                <a:solidFill>
                  <a:srgbClr val="1B7F79"/>
                </a:solidFill>
                <a:latin typeface="Calibri"/>
              </a:defRPr>
            </a:pPr>
            <a:r>
              <a:t>What was built, what was answered, what was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Pipeline delivered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13 source modules, 9 executed notebooks, 18,265 rows, processed datasets and a documented Power BI design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Answered with evidence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city and calendar profiles, correlation structure (linear and non-linear), cluster solution, anomaly set, model comparison with a stated baseline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Answered negatively, and reported that way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no detectable city, month or year effect; no detectable ten-year trend; clusters that do not separate strongly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Leakage quantified, not assumed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AQI_Bucket is reproducible from AQI on 100% of rows; AQI excluded from all models; inflation measured at 0.68 pp</a:t>
            </a:r>
          </a:p>
          <a:p>
            <a:pPr>
              <a:spcAft>
                <a:spcPts val="500"/>
              </a:spcAft>
              <a:defRPr sz="1400">
                <a:solidFill>
                  <a:srgbClr val="0F2A44"/>
                </a:solidFill>
                <a:latin typeface="Calibri"/>
              </a:defRPr>
            </a:pPr>
            <a:r>
              <a:t>• Next step that matters most</a:t>
            </a:r>
          </a:p>
          <a:p>
            <a:pPr>
              <a:spcAft>
                <a:spcPts val="700"/>
              </a:spcAft>
              <a:defRPr sz="1100">
                <a:solidFill>
                  <a:srgbClr val="555F6B"/>
                </a:solidFill>
                <a:latin typeface="Calibri"/>
              </a:defRPr>
            </a:pPr>
            <a:r>
              <a:t>   replace this file with a documented monitoring record and re-run the same code - every artefact regenerates from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